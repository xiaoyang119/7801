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6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3200400"/>
            <a:ext cx="12097512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521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3055"/>
                </a:solidFill>
                <a:latin typeface="Calibri"/>
              </a:rPr>
              <a:t>Model Risk Assessment of Machine Learning-Based Credit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57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95959"/>
                </a:solidFill>
                <a:latin typeface="Calibri"/>
              </a:rPr>
              <a:t>A Case Study Using the Give Me Some Credit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Model Validation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Xiaoyang Zhang (xz5476)  ·  Yifan Xu (yx3598)  ·  Yike Ma (ym2552)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221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FRE 7801 — Model Risk Management  |  NYU Tandon School of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06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Spring 2026  |  Validation Standard: SR 11-7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029200"/>
            <a:ext cx="29260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04748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00"/>
                </a:solidFill>
                <a:latin typeface="Calibri"/>
              </a:rPr>
              <a:t>Risk Tier: Tier 1 — High Risk  (MRS 88/100)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Model Risk Assessment — LightGBM Credit Scoring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261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1261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Dataset &amp;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176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Data Quality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488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176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Model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0632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Quantitative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632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Overfitting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776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39776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0050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Sensitivity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9776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0050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Fair Lending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919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Model Risk Tiering &amp; SR 11-7 Checklist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92040"/>
            <a:ext cx="438912" cy="384048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89204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4919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Final Validation Opinion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Key Validation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097280"/>
          <a:ext cx="78638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Validation Area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Champion Validation 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0.8601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Strong discriminatory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Challenger Validation AUC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0.8317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Strong benchmark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Champion KS Statistic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0.5700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Excellent rank ordering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Champion Train AUC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0.9245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High in-sample fit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Champion AUC Gap (single split)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Review finding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CV Mean AUC Gap (5-fold)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0.1669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Overfitting confirmed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Max PSI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Stable on random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Young-Borrower DIR (LGBM)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0.3351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ECOA-permitted; reflects 4.3x default rate diff.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Internal MRS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88/100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Tier 1 — High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1097280"/>
            <a:ext cx="36576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143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055"/>
                </a:solidFill>
                <a:latin typeface="Calibri"/>
              </a:rPr>
              <a:t>Validation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5087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Conditionally approved pending overfitting remediation and governance controls.
Age use is ECOA-compliant.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3566160"/>
            <a:ext cx="365760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3611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Calibri"/>
              </a:rPr>
              <a:t>Model Under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3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LightGBM Credit Scoring Pipeline
Give Me Some Credit — Kaggle 2011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937760"/>
            <a:ext cx="36576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4983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Calibri"/>
              </a:rPr>
              <a:t>Validation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3492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SR 11-7 — Federal Reserve &amp; OCC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Dataset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Give Me Some Credit — Kaggle 2011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260604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115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055"/>
                </a:solidFill>
                <a:latin typeface="Calibri"/>
              </a:rPr>
              <a:t>150,000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59105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Training Observations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097280"/>
            <a:ext cx="260604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115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055"/>
                </a:solidFill>
                <a:latin typeface="Calibri"/>
              </a:rPr>
              <a:t>101,503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59105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Test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097280"/>
            <a:ext cx="260604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115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055"/>
                </a:solidFill>
                <a:latin typeface="Calibri"/>
              </a:rPr>
              <a:t>~6.7%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59105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Default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097280"/>
            <a:ext cx="260604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20" y="1115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055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59105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Input Features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28600" y="2148840"/>
          <a:ext cx="69494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85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Risk Consideration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RevolvingUtilizationOfUnsecuredLines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Extreme outliers require caps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Fair lending sensitivity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NumberOfTime30-59DaysPastDueNotWorse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Sentinel values require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DebtRatio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Heavy right tail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MonthlyIncome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~20% missingness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NumberOfOpenCreditLinesAndLoans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Nonlinear effect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NumberOfTimes90DaysLate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Strong risk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NumberRealEstateLoansOrLines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Ambiguous directional effect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NumberOfTime60-89DaysPastDueNotWorse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Sentinel values require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8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NumberOfDependents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33333"/>
                          </a:solidFill>
                          <a:latin typeface="Calibri"/>
                        </a:rPr>
                        <a:t>Missingness and weak sensitivity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7406640" y="2148840"/>
            <a:ext cx="4572000" cy="434340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Out of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 Legal fair lending determination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926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 Independent second-line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2004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 Internal audit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4747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 Production implementation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749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 Live monitoring vs. bank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0233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 Adverse action reason-code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2976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 True out-of-time back-testing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Data Quality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Missingness, Outliers &amp; Population Stability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420624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247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Calibri"/>
              </a:rPr>
              <a:t>Missing Value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MonthlyIncome: 19.82% missing (29,731 rows)
NumberOfDependents: 2.62% missing (3,924 rows)
Missingness indicators preserved as features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2286000"/>
          <a:ext cx="4206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DebtRatio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MonthlyIncome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RevolvingUtilization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OpenCreditLines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RealEstateLoans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30-59DaysPastDue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90DaysLate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NumberOfDependents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MonthlyIncome_missing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0.0000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  <a:latin typeface="Calibri"/>
                        </a:rPr>
                        <a:t>Stable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1" name="Picture 10" descr="ps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7315200" cy="5394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64465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Calibri"/>
              </a:rPr>
              <a:t>Max PSI 0.0005 — random split; not production drift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Model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Champion vs. Challenger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055"/>
                </a:solidFill>
                <a:latin typeface="Calibri"/>
              </a:rPr>
              <a:t>Champion — LightGBM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5394960" cy="18288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554480"/>
            <a:ext cx="36576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5544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Missing Value 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Impute + missingness indicator flags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12848"/>
            <a:ext cx="36576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221284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311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Yeo-Johnson PowerTransformer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871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Reduce skew in numerical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871216"/>
            <a:ext cx="36576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" y="287121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95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MiniBatchKMeans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455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Borrower-level segment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529584"/>
            <a:ext cx="36576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" y="352958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478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Weight of Evidence 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0390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WOE transform of cluster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187952"/>
            <a:ext cx="36576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8600" y="418795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62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Polynomial Features (deg-2)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622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Capture nonlinear interactions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846320"/>
            <a:ext cx="36576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48463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646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SelectPercentile (ANOVA 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1206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Dimensionality reduction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504688"/>
            <a:ext cx="365760" cy="502920"/>
          </a:xfrm>
          <a:prstGeom prst="rect">
            <a:avLst/>
          </a:prstGeom>
          <a:solidFill>
            <a:srgbClr val="D9D9D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" y="550468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055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229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LightGBM Classifier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7790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95959"/>
                </a:solidFill>
                <a:latin typeface="Calibri"/>
              </a:rPr>
              <a:t>Gradient-boosted tree w/ class weighting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107899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055"/>
                </a:solidFill>
                <a:latin typeface="Calibri"/>
              </a:rPr>
              <a:t>Challenger — Logistic Regression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1417320"/>
            <a:ext cx="6035040" cy="18288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0" y="1554480"/>
            <a:ext cx="6035040" cy="201168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0760" y="164592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–  Standardized inputs via StandardScaler
–  Class weighting to handle imbalance
–  Traditional scorecard-style benchmark
–  Transparent, auditable, regulator-friendly
–  Fully interpretable coefficients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749039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Champion — Key Risk Considerations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078224"/>
            <a:ext cx="60350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35040" y="416052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KMeans-WOE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160520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Non-monotonic, difficult to audit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67258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Polynomial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67258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Overfitting and interpretability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518464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LightGBM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5184648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Black-box model 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69671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Missingness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569671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May encode demographic differences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Quantitative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Benchmark Performance — Champion vs. Challenger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051560"/>
          <a:ext cx="117043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Gini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F-beta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Train AUC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AUC Gap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LR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0.8317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0.5075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0.6635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0.3344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0.4619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0.1652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0.8291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-0.0026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LGBM Champion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0.8601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0.5700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0.7202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0.3927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0.5147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0.1253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0.9245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7B4F00"/>
                          </a:solidFill>
                          <a:latin typeface="Calibri"/>
                        </a:rPr>
                        <a:t>0.0644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2468880"/>
            <a:ext cx="265176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248716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055"/>
                </a:solidFill>
                <a:latin typeface="Calibri"/>
              </a:rPr>
              <a:t>+0.0284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712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AUC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265176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248716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055"/>
                </a:solidFill>
                <a:latin typeface="Calibri"/>
              </a:rPr>
              <a:t>+0.0625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712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KS Lift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468880"/>
            <a:ext cx="265176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248716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055"/>
                </a:solidFill>
                <a:latin typeface="Calibri"/>
              </a:rPr>
              <a:t>-0.0399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712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Brier Reduction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2468880"/>
            <a:ext cx="265176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248716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055"/>
                </a:solidFill>
                <a:latin typeface="Calibri"/>
              </a:rPr>
              <a:t>+0.0583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8712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  <a:latin typeface="Calibri"/>
              </a:rPr>
              <a:t>PR-AUC Lift</a:t>
            </a:r>
          </a:p>
        </p:txBody>
      </p:sp>
      <p:pic>
        <p:nvPicPr>
          <p:cNvPr id="20" name="Picture 19" descr="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337560"/>
            <a:ext cx="7406640" cy="31546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818120" y="3337560"/>
            <a:ext cx="4160520" cy="315468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38328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Note on Threshold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794760"/>
            <a:ext cx="39776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Champion is a strong rank-ordering model.
Production threshold ≠ 0.50 mechanically.
Threshold should reflect:
–  Credit policy
–  Expected loss
–  Approval capacity
–  Calibration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Overfitting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5-Fold Cross-Validation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515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055"/>
                </a:solidFill>
                <a:latin typeface="Calibri"/>
              </a:rPr>
              <a:t>LR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55778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33"/>
                </a:solidFill>
                <a:latin typeface="Calibri"/>
              </a:rPr>
              <a:t>0.8291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Train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46304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400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33"/>
                </a:solidFill>
                <a:latin typeface="Calibri"/>
              </a:rPr>
              <a:t>0.8317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Val 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46304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33"/>
                </a:solidFill>
                <a:latin typeface="Calibri"/>
              </a:rPr>
              <a:t>-0.0026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AUC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359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C1A"/>
                </a:solidFill>
                <a:latin typeface="Calibri"/>
              </a:rPr>
              <a:t>No overfitting — gap negligible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0515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055"/>
                </a:solidFill>
                <a:latin typeface="Calibri"/>
              </a:rPr>
              <a:t>LGBM Champion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371600"/>
            <a:ext cx="55778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146304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33"/>
                </a:solidFill>
                <a:latin typeface="Calibri"/>
              </a:rPr>
              <a:t>0.9245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Train AUC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146304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60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3333"/>
                </a:solidFill>
                <a:latin typeface="Calibri"/>
              </a:rPr>
              <a:t>0.8601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Val AUC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463040"/>
            <a:ext cx="1737360" cy="777240"/>
          </a:xfrm>
          <a:prstGeom prst="rect">
            <a:avLst/>
          </a:prstGeom>
          <a:solidFill>
            <a:srgbClr val="FFF2CC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8360" y="14813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B4F00"/>
                </a:solidFill>
                <a:latin typeface="Calibri"/>
              </a:rPr>
              <a:t>+0.0644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AUC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359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1A00"/>
                </a:solidFill>
                <a:latin typeface="Calibri"/>
              </a:rPr>
              <a:t>Exceeds 0.03 review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28346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95959"/>
                </a:solidFill>
                <a:latin typeface="Calibri"/>
              </a:rPr>
              <a:t>5-Fold CV Results — LGBM Champion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28600" y="3246120"/>
          <a:ext cx="6309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Fold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Train AUC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Val AUC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AUC Gap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Fold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0.9968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0.1610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0.5325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Fold 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0.9966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0.8309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0.1657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0.5131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Fold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0.9969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0.1783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0.4925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Fold 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0.9964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0.8324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0.1640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0.5204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Fold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0.9962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0.1654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0.5123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0.9966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0.8297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0.1669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0.5142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3" name="Picture 32" descr="cv_auc_f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834640"/>
            <a:ext cx="5212080" cy="3749039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Sensitivity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±10% Input Perturbation — Average Absolute Score Movement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051560"/>
          <a:ext cx="6949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Avg Abs. Score Movement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0.013805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RevolvingUtilizationOfUnsecuredLines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0.011690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MonthlyIncome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0.004820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NumberOfOpenCreditLinesAndLoans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0.004510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DebtRatio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0.003750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NumberOfTime60-89DaysPastDueNotWorse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0.001460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NumberOfTimes90DaysLate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0.001335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NumberRealEstateLoansOrLines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0.000965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NumberOfDependents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0.000225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NumberOfTime30-59DaysPastDueNotWorse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Calibri"/>
                        </a:rPr>
                        <a:t>0.000175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406640" y="1051560"/>
            <a:ext cx="4572000" cy="530352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097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Calibri"/>
              </a:rPr>
              <a:t>Key Observation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438912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Age is the most sensitive feature.
This is assessed in the context of fair lending in the following slide.
Age is an ECOA-permitted factor in empirically derived credit scoring systems (15 U.S.C. § 1691).
The sensitivity finding means age is doing genuine predictive work proportional to actual default rate differences across age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Fair Lending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Age-Based Disparate Impact — ECOA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117043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078992"/>
            <a:ext cx="11521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  <a:latin typeface="Calibri"/>
              </a:rPr>
              <a:t>Age is an ECOA-permitted factor (15 U.S.C. § 1691) in empirically derived credit scoring systems. DIR gap is consistent with a 4.3× actual default rate difference across age groups.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8600" y="1664208"/>
          <a:ext cx="6492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7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74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Age Group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Default Rate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Approval Rate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DIR vs. Best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Young (&lt;30)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LGBM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12.54%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24.70%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0.3351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Young (&lt;30)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LR Baseline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2,623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12.54%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22.80%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0.7814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0.3051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Middle (30-60)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LGBM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27,795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39.94%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0.5418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Middle (30-60)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LR Baseline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27,795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8.12%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39.59%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0.8173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0.5297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Senior (&gt;60)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LGBM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14,582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73.72%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Senior (&gt;60)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LR Baseline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14,582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2.89%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74.74%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0.8131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9" descr="fairness_ag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51560"/>
            <a:ext cx="5074920" cy="3931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5120640"/>
            <a:ext cx="6492240" cy="141732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5166360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Calibri"/>
              </a:rPr>
              <a:t>Less-Discriminatory Alternative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53212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Age-blind LGBM: DIR improves 0.3351 → 0.5081 (+0.173) but AUC drops −0.0372 (below LR baseline). Remaining DIR gap driven by age-correlated legitimate credit factors. Age use confirmed ECOA-compliant.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Model Risk Tiering &amp; SR 11-7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" y="713232"/>
            <a:ext cx="121158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Internal Model Risk Scorecard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051560"/>
          <a:ext cx="5943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Justification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Materiality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Credit decisions for large borrower 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Regulatory Exposure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SR 11-7, ECOA, explainability exposure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Operational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Automated pipeline, no override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Model Complexity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LightGBM + WOE + polynomial features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Tier 1 — High Risk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 descr="mrs_scorecar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749039"/>
            <a:ext cx="594360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0515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Calibri"/>
              </a:rPr>
              <a:t>SR 11-7 Validation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5778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463040"/>
          <a:ext cx="5577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SR 11-7 Area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Calibri"/>
                        </a:rPr>
                        <a:t>Key Action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Purpose &amp;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5C1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D6E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Maintain model-use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Data Quality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5C1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D6E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Document Kaggle data limitations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5C1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D6E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Explain complexity-performance tradeoff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Outcomes Analysis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B4F00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Simplify pipeline; apply early stopping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Ongoing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5C1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D6E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Assign owner and monitoring cadence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Fair Lending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5C1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D6E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Monitor DIR semiannually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5C1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D6EA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Document lack of independent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2" name="Picture 11" descr="sr117_ris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303520"/>
            <a:ext cx="5577840" cy="14630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5486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055"/>
                </a:solidFill>
                <a:latin typeface="Calibri"/>
              </a:rPr>
              <a:t>Final Validation Opinion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17043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055"/>
                </a:solidFill>
                <a:latin typeface="Calibri"/>
              </a:rPr>
              <a:t>Conditional Approval Pending 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Age use is ECOA-compliant. SHAP explanations, 5-fold CV, and LDA test completed. Remaining gaps: overfitting, governance controls, threshold definition.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423160"/>
            <a:ext cx="3749039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2441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9077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Strong discrimination: AUC 0.8601, KS 0.5700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3192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Outperforms LR challenger on all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730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ECOA-compliant age use documented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1422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SHAP global and local explanations 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5537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Imputation assumptions empirically validated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423160"/>
            <a:ext cx="3749039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2441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Remaining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9077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CV mean AUC gap 0.1669 (overfitting)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3192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No production score threshold defined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730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No override / human review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1422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No independent validation performed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5537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No live monitoring framework deployed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2423160"/>
            <a:ext cx="3749039" cy="3840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24414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Academic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9077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Suitable for case-study demonstration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3192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All SR 11-7 checkpoints addressed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730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Tier 1 — High Risk (MRS 88/100)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1422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– Requires independent validation 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5537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any real-world lending application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897880"/>
            <a:ext cx="117043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5925312"/>
            <a:ext cx="11704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Calibri"/>
              </a:rPr>
              <a:t>Thank You  —  Questions Welcome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6656832"/>
            <a:ext cx="121158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" y="6675120"/>
            <a:ext cx="1170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Calibri"/>
              </a:rPr>
              <a:t>FRE 7801 — Model Risk Management  |  NYU Tandon  |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1451</Words>
  <Application>Microsoft Macintosh PowerPoint</Application>
  <PresentationFormat>Custom</PresentationFormat>
  <Paragraphs>454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Yifan Xu</cp:lastModifiedBy>
  <cp:revision>1</cp:revision>
  <dcterms:created xsi:type="dcterms:W3CDTF">2013-01-27T09:14:16Z</dcterms:created>
  <dcterms:modified xsi:type="dcterms:W3CDTF">2026-04-25T16:03:29Z</dcterms:modified>
  <cp:category/>
</cp:coreProperties>
</file>